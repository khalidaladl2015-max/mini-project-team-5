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2011680" cy="50292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NETFLIX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Netflix Content Trends &amp; Interactive Dashboard</a:t>
            </a:r>
          </a:p>
          <a:p>
            <a:pPr>
              <a:defRPr sz="1900">
                <a:solidFill>
                  <a:srgbClr val="AAAAB2"/>
                </a:solidFill>
                <a:latin typeface="Segoe UI"/>
              </a:defRPr>
            </a:pPr>
            <a:r>
              <a:t>رحلة المشروع المتكاملة: من استكشاف وتنظيف البيانات إلى تصميم لوحة مؤشرات الأداء في Power 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6217920" cy="292608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56432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فريق العمل | Team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5852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أحمد فكري (Ahmed Fikry)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محمد عمر (Mohamed Omar)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خالد العدل (Khaled Eladl)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سلمى (Salma)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رشا (Rasha)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291840"/>
            <a:ext cx="4206240" cy="292608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3456432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إشراف وتفاصيل المشروع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93192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AAAB2"/>
                </a:solidFill>
                <a:latin typeface="Segoe UI"/>
              </a:defRPr>
            </a:pPr>
            <a:r>
              <a:t>المشرف الأكاديمي:</a:t>
            </a:r>
          </a:p>
          <a:p>
            <a:pPr>
              <a:defRPr sz="2000" b="1">
                <a:solidFill>
                  <a:srgbClr val="FFB300"/>
                </a:solidFill>
                <a:latin typeface="Segoe UI"/>
              </a:defRPr>
            </a:pPr>
            <a:r>
              <a:t>د. أحمد أيمن الساعي</a:t>
            </a:r>
          </a:p>
          <a:p>
            <a:br/>
            <a:pPr>
              <a:defRPr sz="1200">
                <a:solidFill>
                  <a:srgbClr val="AAAAB2"/>
                </a:solidFill>
              </a:defRPr>
            </a:pPr>
            <a:r>
              <a:t>الأدوات المستخدمة: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Power BI Desktop | Power Query ETL</a:t>
            </a:r>
            <a:br/>
            <a:r>
              <a:t>• DAX Calculations &amp; Advanced Modeling</a:t>
            </a:r>
            <a:br/>
            <a:r>
              <a:t>• Python &amp; Statistical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خارطة طريق المشروع | Project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691640"/>
            <a:ext cx="411480" cy="41148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64208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فهم واستكشاف البيانات</a:t>
            </a:r>
          </a:p>
          <a:p>
            <a:pPr>
              <a:defRPr sz="1100">
                <a:solidFill>
                  <a:srgbClr val="AAAAB2"/>
                </a:solidFill>
              </a:defRPr>
            </a:pPr>
            <a:r>
              <a:t>فحص خصائص مجموعة بيانات نتفلكس، فحص عدد السجلات، وتحديد مشاكل جودة البيانات الخام.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1691640"/>
            <a:ext cx="411480" cy="41148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64208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تنظيف وتجهيز البيانات</a:t>
            </a:r>
          </a:p>
          <a:p>
            <a:pPr>
              <a:defRPr sz="1100">
                <a:solidFill>
                  <a:srgbClr val="AAAAB2"/>
                </a:solidFill>
              </a:defRPr>
            </a:pPr>
            <a:r>
              <a:t>معالجة القيم المفقودة (Nulls)، إزالة التكرارات، وتوحيد التنسيقات وأنواع الحقول.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20" y="1691640"/>
            <a:ext cx="411480" cy="41148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664208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هندسة الميزات (ETL)</a:t>
            </a:r>
          </a:p>
          <a:p>
            <a:pPr>
              <a:defRPr sz="1100">
                <a:solidFill>
                  <a:srgbClr val="AAAAB2"/>
                </a:solidFill>
              </a:defRPr>
            </a:pPr>
            <a:r>
              <a:t>استخراج Primary Genre، فصل أوقات العرض (دقائق ومواسم)، وتفكيك تواريخ الإضافة.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3383280" cy="2286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4251960"/>
            <a:ext cx="411480" cy="41148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24528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بناء نموذج العمل والـ DAX</a:t>
            </a:r>
          </a:p>
          <a:p>
            <a:pPr>
              <a:defRPr sz="1100">
                <a:solidFill>
                  <a:srgbClr val="AAAAB2"/>
                </a:solidFill>
              </a:defRPr>
            </a:pPr>
            <a:r>
              <a:t>صياغة مؤشرات الأداء الرئيسية (KPIs) مثل نسب الأفلام والمسلسلات ومتوسط المدد.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23360"/>
            <a:ext cx="3383280" cy="2286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7720" y="4251960"/>
            <a:ext cx="411480" cy="41148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224528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تصميم الداشبورد التفاعلي</a:t>
            </a:r>
          </a:p>
          <a:p>
            <a:pPr>
              <a:defRPr sz="1100">
                <a:solidFill>
                  <a:srgbClr val="AAAAB2"/>
                </a:solidFill>
              </a:defRPr>
            </a:pPr>
            <a:r>
              <a:t>تطبيق هوية نتفلكس الداكنة (Dark Red)، وبناء التنسيق البصري الهرمي والتفاعلي.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23360"/>
            <a:ext cx="3383280" cy="2286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5320" y="4251960"/>
            <a:ext cx="411480" cy="41148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224528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الرؤى والتوصيات الاستراتيجية</a:t>
            </a:r>
          </a:p>
          <a:p>
            <a:pPr>
              <a:defRPr sz="1100">
                <a:solidFill>
                  <a:srgbClr val="AAAAB2"/>
                </a:solidFill>
              </a:defRPr>
            </a:pPr>
            <a:r>
              <a:t>استخلاص النتائج التحليلية الجوهرية وصياغة توصيات داعمة لصناع القرار.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استكشاف البيانات الخام وهيكلها | Dataset Profile &amp; Inspection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مواصفات مجموعة البيانات (Dataset Overview)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B300"/>
                </a:solidFill>
              </a:defRPr>
            </a:pPr>
            <a:r>
              <a:t>• حجم البيانات الإجمالي: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أكثر من 8,800 عنوان (Movies &amp; TV Shows) يغطي الإنتاج العالمي لمنصة Netflix.</a:t>
            </a:r>
          </a:p>
          <a:p>
            <a:pPr>
              <a:defRPr b="1" sz="1300">
                <a:solidFill>
                  <a:srgbClr val="FFB300"/>
                </a:solidFill>
              </a:defRPr>
            </a:pPr>
            <a:r>
              <a:t>• المفتاح الفريد (Primary Key):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show_id (كود تعريفي فريد لكل عمل فني: s1, s2, ...) لمنع التكرار.</a:t>
            </a:r>
          </a:p>
          <a:p>
            <a:pPr>
              <a:defRPr b="1" sz="1300">
                <a:solidFill>
                  <a:srgbClr val="FFB300"/>
                </a:solidFill>
              </a:defRPr>
            </a:pPr>
            <a:r>
              <a:t>• الأبعاد التصنيفية (Dimensions):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Type (Movie / TV Show)، Title، Director، Cast، Country، Rating، Listed_in.</a:t>
            </a:r>
          </a:p>
          <a:p>
            <a:pPr>
              <a:defRPr b="1" sz="1300">
                <a:solidFill>
                  <a:srgbClr val="FFB300"/>
                </a:solidFill>
              </a:defRPr>
            </a:pPr>
            <a:r>
              <a:t>• الأبعاد الزمنية (Temporal):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Release_Year (سنة الإنتاج السينمائي)، Date_Added (تاريخ الإضافة لمنصة نتفلكس).</a:t>
            </a:r>
          </a:p>
          <a:p>
            <a:pPr>
              <a:defRPr b="1" sz="1300">
                <a:solidFill>
                  <a:srgbClr val="FFB300"/>
                </a:solidFill>
              </a:defRPr>
            </a:pPr>
            <a:r>
              <a:t>• مقياس الحجم والعرض: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Duration (يجمع بين دقائق الأفلام بالساعات والدقائق ومواسم المسلسلات).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تحديات جودة البيانات (Data Quality Issues)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50914"/>
                </a:solidFill>
              </a:defRPr>
            </a:pPr>
            <a:r>
              <a:t>⚠ فقدان بيانات المخرجين (Director Nulls):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أكثر من 30% من الأعمال لا تحتوي على اسم المخرج.</a:t>
            </a:r>
          </a:p>
          <a:p>
            <a:pPr>
              <a:defRPr b="1" sz="1300">
                <a:solidFill>
                  <a:srgbClr val="E50914"/>
                </a:solidFill>
              </a:defRPr>
            </a:pPr>
            <a:r>
              <a:t>⚠ فقدان وتعدد الدول (Country Column):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وجود قيم فارغة، واحتواء الخلية الواحدة على عدة دول منتجة مفصولة بفواصل (Comma-separated).</a:t>
            </a:r>
          </a:p>
          <a:p>
            <a:pPr>
              <a:defRPr b="1" sz="1300">
                <a:solidFill>
                  <a:srgbClr val="E50914"/>
                </a:solidFill>
              </a:defRPr>
            </a:pPr>
            <a:r>
              <a:t>⚠ خلط مدة العرض (Duration Anomalies):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وجود أرقام غير متجانسة: قيم بالدقائق للأفلام (مثال: 90 min) وقيم بالمواسم للمسلسلات (مثال: 2 Seasons).</a:t>
            </a:r>
          </a:p>
          <a:p>
            <a:pPr>
              <a:defRPr b="1" sz="1300">
                <a:solidFill>
                  <a:srgbClr val="E50914"/>
                </a:solidFill>
              </a:defRPr>
            </a:pPr>
            <a:r>
              <a:t>⚠ تعدد التصنيفات (Multi-Valued Genres):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عمود Listed_in يضم تصنيفات متعددة لنفس العمل مما يعيق التحليل والتوزيع الحقيقي.</a:t>
            </a:r>
          </a:p>
          <a:p>
            <a:pPr>
              <a:defRPr b="1" sz="1300">
                <a:solidFill>
                  <a:srgbClr val="E50914"/>
                </a:solidFill>
              </a:defRPr>
            </a:pPr>
            <a:r>
              <a:t>⚠ تنسيق التواريخ غير القياسي: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حقل Date_Added مكتوب كنص غير موحد (Text) يتطلب تحويلاً دقيقاً لتاريخ قياسي (Date).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مراحل تنظيف وتجهيز البيانات | Data Cleaning &amp; 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50876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1. معالجة القيم المفقودة (Handling Nulls)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✔ Director &amp; Cast: استبدال القيم الفارغة بـ 'Unknown Director' و 'Not Specified' للحفاظ على السجلات دون حذف.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Country: تعويض القيم المفقودة بـ 'Unknown Country' وتحديد الدولة الأساسية للإنتاج المشترك.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Rating: استبدال القيم النادرة أو المفقودة بأكثر التصنيفات شيوعاً (Mode Imputation) مثل 'TV-MA'.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150876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2. تنقية الشوائب وتوحيد النصوص (Standardization)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✔ إزالة المسافات البيضاء الزائدة (Trimming White Spaces) قبل وبعد النصوص.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تنظيف الحروف الخاصة وعلامات الترقيم المشوهة الناتجة عن الترميز (Text Encoding).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التحقق من عدم وجود سجلات مكررة (Removing Duplicate Titles) بناءً على Show_ID والعنوان.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698480" cy="150876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1947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3. تصحيح وتحويل أنواع البيانات (Type Casting)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✔ تحويل تاريخ الإضافة Date_Added من نص عادي إلى تاريخ تقويمي معتمد (Standard Date Format).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تحويل سنة الإنتاج Release_Year إلى رقم صحيح مع الحفاظ على تسلسله الزمني.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فصل حقل Duration إلى جزء رقمي خالص (Value) وجزء نصي للوحدة (Unit: min / Season).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هندسة الميزات والتحويلات | Feature Engineering (ETL)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استخراج التصنيف الأساسي (Primary_Genre)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عمود listed_in كان يجمع تصنيفات متعددة مثل 'Dramas, International Movies'. تم عبر Power Query تقسيم العمود بمحدد الفاصلة (Comma delimiter) واستخلاص التصنيف الأول الممثل لنوع العمل الأساسي.</a:t>
            </a:r>
          </a:p>
          <a:p>
            <a:br/>
            <a:pPr>
              <a:defRPr sz="1000">
                <a:solidFill>
                  <a:srgbClr val="FFB300"/>
                </a:solidFill>
              </a:defRPr>
            </a:pPr>
            <a:r>
              <a:t>M-Code: Text.BeforeDelimiter([listed_in], ",")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حساب مدة الأفلام بالدقائق (Duration_Minutes)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تم استخراج القيمة الرقمية فقط للأعمال المصنفة كـ Movie لتمكين إجراء العمليات الحسابية مثل حساب متوسط مدة الفيلم، وتصفية وحدة 'min' النصية.</a:t>
            </a:r>
          </a:p>
          <a:p>
            <a:br/>
            <a:pPr>
              <a:defRPr sz="1000">
                <a:solidFill>
                  <a:srgbClr val="FFB300"/>
                </a:solidFill>
              </a:defRPr>
            </a:pPr>
            <a:r>
              <a:t>M-Code: Table.AddColumn(..., each if [type]="Movie" then Number.From(Text.Select([duration], {"0".."9"})) else null)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12080" cy="23317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تفكيك الأبعاد الزمنية (Date Hierarchy)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اشتقاق أعمدة: Year Added (سنة الإضافة) و Month Added (شهر الإضافة) من تاريخ Date_Added، لدراسة التطور الزمني ونمط إضافة المحتوى عبر السنوات والمواسم.</a:t>
            </a:r>
          </a:p>
          <a:p>
            <a:br/>
            <a:pPr>
              <a:defRPr sz="1000">
                <a:solidFill>
                  <a:srgbClr val="FFB300"/>
                </a:solidFill>
              </a:defRPr>
            </a:pPr>
            <a:r>
              <a:t>M-Code: Date.Year([Date_Added]), Date.MonthName([Date_Added])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212080" cy="23317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8795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استخراج الدولة الرئيسية (Primary_Country)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262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في الأعمال ذات الإنتاج المشترك مثل 'United States, India'، تم استخراج الدولة الأولى المسجلة كدولة قائدة للإنتاج لضمان دقة الرسوم البيانية الجغرافية وعدم تكرار الصفوف.</a:t>
            </a:r>
          </a:p>
          <a:p>
            <a:br/>
            <a:pPr>
              <a:defRPr sz="1000">
                <a:solidFill>
                  <a:srgbClr val="FFB300"/>
                </a:solidFill>
              </a:defRPr>
            </a:pPr>
            <a:r>
              <a:t>M-Code: Text.Trim(Text.BeforeDelimiter([country], ","))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صياغة مقاييس ومؤشرات الأداء | DAX Measures &amp; Business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50876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إجمالي العناوين (Total Titles)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300"/>
                </a:solidFill>
              </a:defRPr>
            </a:pPr>
            <a:r>
              <a:t>Total Titles = COUNTROWS('netflix_titles')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الغرض: حساب إجمالي المحتوى المتاح بالمنصة ديناميكياً مع استجابة فورية للفلاتر.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150876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إجمالي الأفلام (Total Movies)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300"/>
                </a:solidFill>
              </a:defRPr>
            </a:pPr>
            <a:r>
              <a:t>Total Movies = CALCULATE(COUNTROWS('netflix_titles'), 'netflix_titles'[type] = "Movie")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الغرض: عزل وتعداد الأفلام السينمائية حصراً.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212080" cy="150876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1927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إجمالي المسلسلات (Total TV Shows)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9359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300"/>
                </a:solidFill>
              </a:defRPr>
            </a:pPr>
            <a:r>
              <a:t>Total TV Shows = CALCULATE(COUNTROWS('netflix_titles'), 'netflix_titles'[type] = "TV Show")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الغرض: عزل وتعداد المسلسلات التلفزيونية والبرامج المتعددة المواسم.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54680"/>
            <a:ext cx="5212080" cy="150876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31927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نسبة الأفلام (% Movies)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9359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300"/>
                </a:solidFill>
              </a:defRPr>
            </a:pPr>
            <a:r>
              <a:t>% Movies = DIVIDE([Total Movies], [Total Titles], 0)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الغرض: حساب الحصة السوقية للأفلام من إجمالي المحتوى مع تنسيق النسبة المئوية.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5212080" cy="150876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نسبة المسلسلات (% TV Shows)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8523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300"/>
                </a:solidFill>
              </a:defRPr>
            </a:pPr>
            <a:r>
              <a:t>% TV Shows = DIVIDE([Total TV Shows], [Total Titles], 0)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الغرض: حساب الحصة السوقية للمسلسلات لمقارنة التوجه الإنتاجي للمنصة.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46320"/>
            <a:ext cx="5212080" cy="150876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01091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متوسط مدة الفيلم (Avg Movie Duration)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8523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300"/>
                </a:solidFill>
              </a:defRPr>
            </a:pPr>
            <a:r>
              <a:t>Avg Movie Duration = CALCULATE(AVERAGE('netflix_titles'[Duration_Minutes]), 'netflix_titles'[type] = "Movie")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الغرض: مقياس دقيق لمتوسط زمن تشغيل الأفلام بالدقائق (ظهر في الداشبورد: 111 دقيقة).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DASHBOARD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معمارية وتصميم واجهة المستخدم | Dashboard UI/UX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الهوية البصرية لنتفلكس (Netflix Brand Identity)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اعتماد الخلفية السينمائية الداكنة (Vampire Dark #141414) مع الأحمر المميز (Netflix Red #E50914) والنصوص البيضاء، لإعطاء إحساس تجربة المشاهدة الحقيقية وتقليل إجهاد العين.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التسلسل الهرمي للمعلومات (Visual Hierarchy)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ترتيب الشاشة من الأعلى إلى الأسفل:</a:t>
            </a:r>
            <a:br/>
            <a:r>
              <a:t>1. بطاقات الأداء السريعة (KPIs) في القمة للحصول على نظرة فورية.</a:t>
            </a:r>
            <a:br/>
            <a:r>
              <a:t>2. التحليل الزمني والتوزيع العام في المنتصف.</a:t>
            </a:r>
            <a:br/>
            <a:r>
              <a:t>3. التحليل التفصيلي للأنواع والجغرافيا في الأسفل والجانبين.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12080" cy="23317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التفاعلية والتصفية المتقاطعة (Cross-Filtering)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جميع الرسوم البيانية مرتبطة ببعضها البعض، فعند النقر على أي دولة أو تصنيف تتحدث كافة بطاقات الـ KPIs والمخططات الزمنية تلقائياً لتعكس الاختيار المحدد.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212080" cy="23317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8795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تنوع الرسوم البيانية وملاءمتها (Visual Selection)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262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اختيار مخططات دقيقة: Donut Chart للنسب التناسبية، Tree Map للتصنيفات الكثيفة، Line Chart للاتجاهات الزمنية، و Bar Charts للمقارنات التنافسية.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FINAL 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اللوحة النهائية التفاعلية | The Final Interactive Dashboard</a:t>
            </a:r>
          </a:p>
        </p:txBody>
      </p:sp>
      <p:pic>
        <p:nvPicPr>
          <p:cNvPr id="6" name="Picture 5" descr="media_17928590596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772400" cy="44934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1463040"/>
            <a:ext cx="2743200" cy="48463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6276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مكونات الشاشة الرئيسية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10312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• 1. بطاقات المؤشرات (KPIs)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2. مسار النمو السنوي (Line Chart)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3. نسبة الأفلام والمسلسلات (Donut)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4. خريطة المساحة (Tree Map)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5. أعلى التصنيفات (Bar Chart)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6. أعلى 10 دول إنتاجاً (Column Chart)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7. توزيع السجلات حسب الدول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VISUAL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تحليل المؤشرات والنمو الزمني | KPIs &amp; Temporal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1. شريط مؤشرات الأداء (KPI Cards)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B300"/>
                </a:solidFill>
              </a:defRPr>
            </a:pPr>
            <a:r>
              <a:t>✔ Total Titles &amp; Types: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عرض الإجمالي الكلي للعناوين مع فصل فوري لعدد الأفلام (Movies) والمسلسلات (TV Shows).</a:t>
            </a:r>
          </a:p>
          <a:p>
            <a:pPr>
              <a:defRPr b="1" sz="1200">
                <a:solidFill>
                  <a:srgbClr val="FFB300"/>
                </a:solidFill>
              </a:defRPr>
            </a:pPr>
            <a:r>
              <a:t>✔ Top Country Indicator: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إبراز الدولة الأكثر مساهمة في المحتوى المفلتر ديناميكياً.</a:t>
            </a:r>
          </a:p>
          <a:p>
            <a:pPr>
              <a:defRPr b="1" sz="1200">
                <a:solidFill>
                  <a:srgbClr val="FFB300"/>
                </a:solidFill>
              </a:defRPr>
            </a:pPr>
            <a:r>
              <a:t>✔ Average Movie Duration: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تسجيل متوسط مدة الأفلام (حوالي 111 دقيقة)، وهو المعيار النموذجي للأفلام الروائية الطويلة.</a:t>
            </a:r>
          </a:p>
          <a:p>
            <a:pPr>
              <a:defRPr b="1" sz="1200">
                <a:solidFill>
                  <a:srgbClr val="FFB300"/>
                </a:solidFill>
              </a:defRPr>
            </a:pPr>
            <a:r>
              <a:t>✔ نسب المحتوى (% Movies vs % TV):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توضيح تركز المنصة على الأفلام بنسبة تتراوح بين 70% إلى 84% وفقاً لعوامل التصفية.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2. نمو المحتوى عبر السنوات (Content Growth)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50914"/>
                </a:solidFill>
              </a:defRPr>
            </a:pPr>
            <a:r>
              <a:t>📈 الفترة الذهبية (2016 - 2019):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شهدت هذه السنوات قفزة هائلة في وتيرة إضافة المحتوى مع إطلاق نتفلكس لخدماتها عالمياً في أكثر من 190 دولة.</a:t>
            </a:r>
          </a:p>
          <a:p>
            <a:pPr>
              <a:defRPr b="1" sz="1200">
                <a:solidFill>
                  <a:srgbClr val="E50914"/>
                </a:solidFill>
              </a:defRPr>
            </a:pPr>
            <a:r>
              <a:t>📈 مقارنة الخطين (Movies vs TV Shows):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الخط الأحمر (Movies) يرتفع بشكل أسرع في الذروة مقارنة بالخط الأبيض (TV Shows).</a:t>
            </a:r>
          </a:p>
          <a:p>
            <a:pPr>
              <a:defRPr b="1" sz="1200">
                <a:solidFill>
                  <a:srgbClr val="E50914"/>
                </a:solidFill>
              </a:defRPr>
            </a:pPr>
            <a:r>
              <a:t>📈 تأثير عام 2020 وتراجع الإنتاج: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تباطؤ طفيف في وتيرة الإضافات نتيجة الإغلاقات العالمية لجائحة كورونا التي أوقفت استوديوهات التصوير.</a:t>
            </a:r>
          </a:p>
          <a:p>
            <a:pPr>
              <a:defRPr b="1" sz="1200">
                <a:solidFill>
                  <a:srgbClr val="E50914"/>
                </a:solidFill>
              </a:defRPr>
            </a:pPr>
            <a:r>
              <a:t>📈 التحول الاستراتيجي للمسلسلات: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رغم تفوق الأفلام عدداً، تزداد وتيرة إنتاج المسلسلات باستمرار للحفاظ على استبقاء المشتركين (Retention).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VISUAL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تحليل أنواع وتصنيفات المحتوى | Genre Analysis &amp; Treemap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1. تصنيفات المحتوى (Total Titles by Genre)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B300"/>
                </a:solidFill>
              </a:defRPr>
            </a:pPr>
            <a:r>
              <a:t>• الدراما (Dramas - الصدارة):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تتصدر بفارق كبير بما يزيد عن 1,500 عنوان، لكونها النوع الأكثر جاذبية وتنوعاً عالمياً.</a:t>
            </a:r>
          </a:p>
          <a:p>
            <a:pPr>
              <a:defRPr b="1" sz="1200">
                <a:solidFill>
                  <a:srgbClr val="FFB300"/>
                </a:solidFill>
              </a:defRPr>
            </a:pPr>
            <a:r>
              <a:t>• الكوميديا (Comedies - المركز الثاني):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أكثر من 1,100 عنوان كوميدي لتلبية الطلب الجماهيري العائلي والترفيه الخفيف.</a:t>
            </a:r>
          </a:p>
          <a:p>
            <a:pPr>
              <a:defRPr b="1" sz="1200">
                <a:solidFill>
                  <a:srgbClr val="FFB300"/>
                </a:solidFill>
              </a:defRPr>
            </a:pPr>
            <a:r>
              <a:t>• الحركة والمغامرة (Action &amp; Adventure):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تحتل المركز الثالث بأكثر من 700 عنوان مدعومة بإنتاجات سينمائية ضخمة.</a:t>
            </a:r>
          </a:p>
          <a:p>
            <a:pPr>
              <a:defRPr b="1" sz="1200">
                <a:solidFill>
                  <a:srgbClr val="FFB300"/>
                </a:solidFill>
              </a:defRPr>
            </a:pPr>
            <a:r>
              <a:t>• الوثائقيات (Documentaries):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تأتي في المركز الرابع بأكثر من 650 عملاً، ما يعكس استثمار نتفلكس القوي في التحقيقات والوثائقيات الرياضية والواقعية.</a:t>
            </a:r>
          </a:p>
          <a:p>
            <a:pPr>
              <a:defRPr b="1" sz="1200">
                <a:solidFill>
                  <a:srgbClr val="FFB300"/>
                </a:solidFill>
              </a:defRPr>
            </a:pPr>
            <a:r>
              <a:t>• أعمال الأطفال والأسرة والأنمي: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حضور متزايد لبرامج الأطفال والمسلسلات الدولية لتوسيع قاعدة المشتركين في كافة الفئات العمرية.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2. خريطة المساحة الشجرية (Treemap Visual)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50914"/>
                </a:solidFill>
              </a:defRPr>
            </a:pPr>
            <a:r>
              <a:t>🗺 التمثيل البصري النسبي: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يعطي الـ Treemap تمثيلاً فورياً للحجم النسبي لكل تصنيف من خلال مساحات المستطيلات والألوان المختلفة.</a:t>
            </a:r>
          </a:p>
          <a:p>
            <a:pPr>
              <a:defRPr b="1" sz="1200">
                <a:solidFill>
                  <a:srgbClr val="E50914"/>
                </a:solidFill>
              </a:defRPr>
            </a:pPr>
            <a:r>
              <a:t>🗺 التوازن بين الأنواع الرئيسية والفرعية: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يوضح التدرج من الكتل الكبرى (Dramas, Comedies) إلى التخصصات المتخصصة مثل Anime Series و Stand-Up Comedy.</a:t>
            </a:r>
          </a:p>
          <a:p>
            <a:pPr>
              <a:defRPr b="1" sz="1200">
                <a:solidFill>
                  <a:srgbClr val="E50914"/>
                </a:solidFill>
              </a:defRPr>
            </a:pPr>
            <a:r>
              <a:t>🗺 تسهيل الاستكشاف باللمس والتصفية: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يتيح للمستخدم النقر على أي مستطيل لتصفية كامل الداشبورد فورياً لرؤية تطور هذا النوع وتوزيعه الجغرافي.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VISUAL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التحليل الجغرافي وأهم الدول المنتجة | Geographical Content Distribution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1. خريطة المراكز الإنتاجية الكبرى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B300"/>
                </a:solidFill>
              </a:defRPr>
            </a:pPr>
            <a:r>
              <a:t>🌍 الولايات المتحدة (United States - المركز الأول):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تسيطر على أكثر من 3,000 عنوان بحكم كونها المقر الرئيسي ومركز هوليوود العالمي.</a:t>
            </a:r>
          </a:p>
          <a:p>
            <a:pPr>
              <a:defRPr b="1" sz="1200">
                <a:solidFill>
                  <a:srgbClr val="FFB300"/>
                </a:solidFill>
              </a:defRPr>
            </a:pPr>
            <a:r>
              <a:t>🌍 الهند (India - المركز الثاني):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قوة إنتاجية كبرى بأكثر من 1,000 عنوان نتيجة التوسع الضخم في محتوى بوليوود والسينما الإقليمية.</a:t>
            </a:r>
          </a:p>
          <a:p>
            <a:pPr>
              <a:defRPr b="1" sz="1200">
                <a:solidFill>
                  <a:srgbClr val="FFB300"/>
                </a:solidFill>
              </a:defRPr>
            </a:pPr>
            <a:r>
              <a:t>🌍 المملكة المتحدة (United Kingdom):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تأتي ثالثاً بأكثر من 600 عنوان بفضل الدراما التاريخية والمسلسلات عالية التقييم.</a:t>
            </a:r>
          </a:p>
          <a:p>
            <a:pPr>
              <a:defRPr b="1" sz="1200">
                <a:solidFill>
                  <a:srgbClr val="FFB300"/>
                </a:solidFill>
              </a:defRPr>
            </a:pPr>
            <a:r>
              <a:t>🌍 كندا واليابان وفرنسا وكوريا الجنوبية: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حضور قوي للأنمي الياباني والدراما الكورية (K-Drama) التي حققت انتشاراً عالمياً غير مسبوق.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2. الحضور العربي والمصري والأسواق الناشئة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50914"/>
                </a:solidFill>
              </a:defRPr>
            </a:pPr>
            <a:r>
              <a:t>⭐ ظهور مصر في الترتيب المتقدم (Egypt):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أظهر الرسم البياني وجود مصر (Egypt) ضمن أبرز الدول المنتجة الممثلة على المنصة، بفضل إضافة كلاسيكيات السينما المصرية والإنتاجات الحديثة.</a:t>
            </a:r>
          </a:p>
          <a:p>
            <a:pPr>
              <a:defRPr b="1" sz="1200">
                <a:solidFill>
                  <a:srgbClr val="E50914"/>
                </a:solidFill>
              </a:defRPr>
            </a:pPr>
            <a:r>
              <a:t>⭐ استراتيجية المحتوى المحلي (Glocalization):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تحول نتفلكس من تصدير المحتوى الأمريكي إلى إنتاج محتوى محلي أصلي بلغات الشعوب موجه للعالمية.</a:t>
            </a:r>
          </a:p>
          <a:p>
            <a:pPr>
              <a:defRPr b="1" sz="1200">
                <a:solidFill>
                  <a:srgbClr val="E50914"/>
                </a:solidFill>
              </a:defRPr>
            </a:pPr>
            <a:r>
              <a:t>⭐ القوة التنافسية للأسواق الآسيوية والأوروبية: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تنامي إنتاج إسبانيا والمكسيك مع نجاح المسلسلات الناطقة بالإسبانية مثل La Casa de Papel.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أهم الرؤى ونتائج التحليل | Key Business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143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الأفلام تمثل العمود الفقري للكم، والمسلسلات تدعم الاستبقاء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الأفلام تشكل الحصة الأكبر عددياً (&gt;70%) لجذب المشاهدات السريعة، لكن المسلسلات تحقق أعلى معدلات بقاء المشتركين (Subscription Retention) بفضل متابعة الحلقات والمواسم.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24912"/>
            <a:ext cx="10698480" cy="1143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9504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تطور نموذج الإنتاج: من الشراء إلى الأصلية (Netflix Originals)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6382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التحليل الزمني يكشف توجه المنصة المتسارع لامتلاك حقوق الإنتاج الحصري لتقليل الاعتماد على استوديوهات الطرف الثالث التي بدأت تدشين منصاتها الخاصة.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4"/>
            <a:ext cx="10698480" cy="1143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6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عالمية المحتوى وكسر الحواجز اللغوية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2569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تصنيفات 'International Movies' و 'International TV Shows' تنافس بقوة في المراتب الأولى، مما يثبت أن الجمهور العالمي أصبح منفتحاً على الترجمة والدبلجة.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48656"/>
            <a:ext cx="10698480" cy="1143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1324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معيارية مدة الأفلام عند 111 دقيقة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8756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الحفاظ على متوسط 111 دقيقة يثبت فهم المنصة لراحة المشاهد المنزلي التي تفضل الأفلام بين 90 و 120 دقيقة لتفادي الإرهاق البصري.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Segoe UI"/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التوصيات الاستراتيجية لصناع القرار | Strategic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143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1. تعزيز الاستثمار في المسلسلات الأصلية الحصرية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مواصلة رفع حصة الـ TV Shows لتقترب من 35%-40% من المكتبة لتعزيز ارتباط المشتركين المستمر وتقليل معدلات إلغاء الاشتراك (Churn Rate).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24912"/>
            <a:ext cx="10698480" cy="1143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9504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2. التوسع في استوديوهات الإنتاج بالشرق الأوسط ومصر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6382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استثمار شعبية المحتوى العربي بزيادة الشراكات مع المبدعين في مصر والعالم العربي لإنتاج أعمال حصرية تنافس عالمياً.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4"/>
            <a:ext cx="10698480" cy="1143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6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3. تنويع محتوى الأطفال والعائلة (Kids &amp; Family)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2569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تعزيز مكتبة الرسوم المتحركة ومحتوى العائلة لتعزيز القوة التنافسية في مواجهة منصات موجهة للعائلات مثل Disney+.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48656"/>
            <a:ext cx="10698480" cy="114300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1324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4. استغلال تفوق أفلام الدراما والكوميديا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8756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التركيز على إنتاج وتوزيع أفلام الدراما والكوميديا لكونهما يمثلان معاً أكثر من 50% من إجمالي تفضيلات المشاهدة على المنصة.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الخاتمة وكلمة شكر وتقدير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01168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شكر وتقدير للمشرف الأكاديمي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AAB2"/>
                </a:solidFill>
              </a:defRPr>
            </a:pPr>
            <a:r>
              <a:t>يتوجه فريق العمل (Team 5) بخالص الشكر والتقدير وعظيم الامتنان إلى:</a:t>
            </a:r>
          </a:p>
          <a:p>
            <a:pPr>
              <a:defRPr sz="2200" b="1">
                <a:solidFill>
                  <a:srgbClr val="FFB300"/>
                </a:solidFill>
              </a:defRPr>
            </a:pPr>
            <a:r>
              <a:t>سعادة الدكتور / أحمد أيمن الساعي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على دعمه العلمي المستمر، وتوجيهاته القيمة التي أنارت مسار هذا المشروع من مرحلة فحص البيانات الخام وحتى خروج لوحة المؤشرات بهذا المستوى الاحترافي.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1C1C21"/>
          </a:solidFill>
          <a:ln w="190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6227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50914"/>
                </a:solidFill>
                <a:latin typeface="Segoe UI"/>
              </a:defRPr>
            </a:pPr>
            <a:r>
              <a:t>فريق العمل | Team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50914"/>
                </a:solidFill>
              </a:defRPr>
            </a:pPr>
            <a:r>
              <a:t>إعداد وتطوير: أحمد فكري  |  محمد عمر  |  خالد العدل  |  سلمى  |  رشا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نشكركم لحسن استماعكم ويسعدنا تلقي أي أسئلة أو استفسارات حول المشروع.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